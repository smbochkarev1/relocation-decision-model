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Pt>
            <c:idx val="0"/>
            <c:spPr>
              <a:solidFill>
                <a:srgbClr val="F59E0B"/>
              </a:solidFill>
            </c:spPr>
          </c:dPt>
          <c:dPt>
            <c:idx val="1"/>
            <c:spPr>
              <a:solidFill>
                <a:srgbClr val="312E81"/>
              </a:solidFill>
            </c:spPr>
          </c:dPt>
          <c:dPt>
            <c:idx val="2"/>
            <c:spPr>
              <a:solidFill>
                <a:srgbClr val="312E81"/>
              </a:solidFill>
            </c:spPr>
          </c:dPt>
          <c:dPt>
            <c:idx val="3"/>
            <c:spPr>
              <a:solidFill>
                <a:srgbClr val="312E81"/>
              </a:solidFill>
            </c:spPr>
          </c:dPt>
          <c:dPt>
            <c:idx val="4"/>
            <c:spPr>
              <a:solidFill>
                <a:srgbClr val="312E81"/>
              </a:solidFill>
            </c:spPr>
          </c:dPt>
          <c:dPt>
            <c:idx val="5"/>
            <c:spPr>
              <a:solidFill>
                <a:srgbClr val="312E81"/>
              </a:solidFill>
            </c:spPr>
          </c:dPt>
          <c:dPt>
            <c:idx val="6"/>
            <c:spPr>
              <a:solidFill>
                <a:srgbClr val="312E81"/>
              </a:solidFill>
            </c:spPr>
          </c:dPt>
          <c:dPt>
            <c:idx val="7"/>
            <c:spPr>
              <a:solidFill>
                <a:srgbClr val="312E81"/>
              </a:solidFill>
            </c:spPr>
          </c:dPt>
          <c:cat>
            <c:strRef>
              <c:f>Sheet1!$A$2:$A$9</c:f>
              <c:strCache>
                <c:ptCount val="8"/>
                <c:pt idx="0">
                  <c:v>UAE</c:v>
                </c:pt>
                <c:pt idx="1">
                  <c:v>Qatar</c:v>
                </c:pt>
                <c:pt idx="2">
                  <c:v>Croatia</c:v>
                </c:pt>
                <c:pt idx="3">
                  <c:v>Slovenia</c:v>
                </c:pt>
                <c:pt idx="4">
                  <c:v>Portugal</c:v>
                </c:pt>
                <c:pt idx="5">
                  <c:v>Spain</c:v>
                </c:pt>
                <c:pt idx="6">
                  <c:v>Uruguay</c:v>
                </c:pt>
                <c:pt idx="7">
                  <c:v>Costa Rica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8.9</c:v>
                </c:pt>
                <c:pt idx="1">
                  <c:v>8.8</c:v>
                </c:pt>
                <c:pt idx="2">
                  <c:v>8.5</c:v>
                </c:pt>
                <c:pt idx="3">
                  <c:v>8.5</c:v>
                </c:pt>
                <c:pt idx="4">
                  <c:v>8.4</c:v>
                </c:pt>
                <c:pt idx="5">
                  <c:v>8.1</c:v>
                </c:pt>
                <c:pt idx="6">
                  <c:v>7.7</c:v>
                </c:pt>
                <c:pt idx="7">
                  <c:v>7.6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 b="1">
                  <a:solidFill>
                    <a:srgbClr val="1A1F36"/>
                  </a:solidFill>
                  <a:latin typeface="Georgia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ex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ext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ey_ins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mage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cont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 algn="ctr"/>
            <a:r>
              <a:rPr sz="4000" b="1">
                <a:solidFill>
                  <a:srgbClr val="FFFFFF"/>
                </a:solidFill>
                <a:latin typeface="Georgia"/>
              </a:rPr>
              <a:t>Where to relocate: 36 countries scored, legalization mapped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5577840"/>
            <a:ext cx="1097280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0"/>
            <a:ext cx="1109441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D6DCE8"/>
                </a:solidFill>
                <a:latin typeface="Arial"/>
              </a:rPr>
              <a:t>From a weighted decision model to the routes that actually work — a couple on Russian passports,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ctr"/>
            <a:r>
              <a:rPr sz="4000" b="1">
                <a:solidFill>
                  <a:srgbClr val="FFFFFF"/>
                </a:solidFill>
                <a:latin typeface="Georgia"/>
              </a:rPr>
              <a:t>One model, two questions: is it a good fit — and can you actually get in?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023360"/>
            <a:ext cx="1109441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D6DCE8"/>
                </a:solidFill>
                <a:latin typeface="Arial"/>
              </a:rPr>
              <a:t>Weighted score across 24 criteria / 7 domains, joined with a sourced 2026 legalization review (residence · golden visa · citizenship · mortgage · naturalization)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000" b="1">
                <a:solidFill>
                  <a:srgbClr val="1A1F36"/>
                </a:solidFill>
                <a:latin typeface="Georgia"/>
              </a:rPr>
              <a:t>The score ranks fit — Georgia, Portugal and Spain lead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82296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37360"/>
          <a:ext cx="1109441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45720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Country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Region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Score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F36"/>
                          </a:solidFill>
                        </a:rPr>
                        <a:t>Georgia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F36"/>
                          </a:solidFill>
                        </a:rPr>
                        <a:t>Caucasus/Gulf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F36"/>
                          </a:solidFill>
                        </a:rPr>
                        <a:t>6.66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F36"/>
                          </a:solidFill>
                        </a:rPr>
                        <a:t>Portugal</a:t>
                      </a:r>
                    </a:p>
                  </a:txBody>
                  <a:tcPr>
                    <a:solidFill>
                      <a:srgbClr val="F5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F36"/>
                          </a:solidFill>
                        </a:rPr>
                        <a:t>Europe/Med</a:t>
                      </a:r>
                    </a:p>
                  </a:txBody>
                  <a:tcPr>
                    <a:solidFill>
                      <a:srgbClr val="F5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F36"/>
                          </a:solidFill>
                        </a:rPr>
                        <a:t>6.56</a:t>
                      </a:r>
                    </a:p>
                  </a:txBody>
                  <a:tcPr>
                    <a:solidFill>
                      <a:srgbClr val="F5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F36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F36"/>
                          </a:solidFill>
                        </a:rPr>
                        <a:t>Europe/Med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F36"/>
                          </a:solidFill>
                        </a:rPr>
                        <a:t>6.55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F36"/>
                          </a:solidFill>
                        </a:rPr>
                        <a:t>Turkey</a:t>
                      </a:r>
                    </a:p>
                  </a:txBody>
                  <a:tcPr>
                    <a:solidFill>
                      <a:srgbClr val="F5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F36"/>
                          </a:solidFill>
                        </a:rPr>
                        <a:t>Caucasus/Gulf</a:t>
                      </a:r>
                    </a:p>
                  </a:txBody>
                  <a:tcPr>
                    <a:solidFill>
                      <a:srgbClr val="F5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F36"/>
                          </a:solidFill>
                        </a:rPr>
                        <a:t>6.44</a:t>
                      </a:r>
                    </a:p>
                  </a:txBody>
                  <a:tcPr>
                    <a:solidFill>
                      <a:srgbClr val="F5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F36"/>
                          </a:solidFill>
                        </a:rPr>
                        <a:t>UAE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F36"/>
                          </a:solidFill>
                        </a:rPr>
                        <a:t>Caucasus/Gulf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F36"/>
                          </a:solidFill>
                        </a:rPr>
                        <a:t>6.30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F36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F5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F36"/>
                          </a:solidFill>
                        </a:rPr>
                        <a:t>LatAm</a:t>
                      </a:r>
                    </a:p>
                  </a:txBody>
                  <a:tcPr>
                    <a:solidFill>
                      <a:srgbClr val="F5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F36"/>
                          </a:solidFill>
                        </a:rPr>
                        <a:t>6.18</a:t>
                      </a:r>
                    </a:p>
                  </a:txBody>
                  <a:tcPr>
                    <a:solidFill>
                      <a:srgbClr val="F5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F36"/>
                          </a:solidFill>
                        </a:rPr>
                        <a:t>Thailand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F36"/>
                          </a:solidFill>
                        </a:rPr>
                        <a:t>Asia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F36"/>
                          </a:solidFill>
                        </a:rPr>
                        <a:t>6.10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F36"/>
                          </a:solidFill>
                        </a:rPr>
                        <a:t>Serbia</a:t>
                      </a:r>
                    </a:p>
                  </a:txBody>
                  <a:tcPr>
                    <a:solidFill>
                      <a:srgbClr val="F5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F36"/>
                          </a:solidFill>
                        </a:rPr>
                        <a:t>Europe/Med</a:t>
                      </a:r>
                    </a:p>
                  </a:txBody>
                  <a:tcPr>
                    <a:solidFill>
                      <a:srgbClr val="F5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F36"/>
                          </a:solidFill>
                        </a:rPr>
                        <a:t>6.04</a:t>
                      </a:r>
                    </a:p>
                  </a:txBody>
                  <a:tcPr>
                    <a:solidFill>
                      <a:srgbClr val="F5F5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A94A6"/>
                </a:solidFill>
                <a:latin typeface="Arial"/>
              </a:rPr>
              <a:t>Source: relocation-decision-model — 36 countries, 24 weighted criteria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000" b="1">
                <a:solidFill>
                  <a:srgbClr val="1A1F36"/>
                </a:solidFill>
                <a:latin typeface="Georgia"/>
              </a:rPr>
              <a:t>But the passport rewrites the map — legalization is uneven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82296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3515258" cy="4389120"/>
          </a:xfrm>
          <a:prstGeom prst="roundRect">
            <a:avLst/>
          </a:prstGeom>
          <a:solidFill>
            <a:srgbClr val="F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3295802" cy="73152"/>
          </a:xfrm>
          <a:prstGeom prst="rect">
            <a:avLst/>
          </a:prstGeom>
          <a:solidFill>
            <a:srgbClr val="067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93392"/>
            <a:ext cx="3149498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067647"/>
                </a:solidFill>
                <a:latin typeface="Georgia"/>
              </a:rPr>
              <a:t>DONE</a:t>
            </a:r>
          </a:p>
          <a:p>
            <a:r>
              <a:rPr sz="1800" b="1">
                <a:solidFill>
                  <a:srgbClr val="1A1F36"/>
                </a:solidFill>
                <a:latin typeface="Georgia"/>
              </a:rPr>
              <a:t>Citizenship that works for RF</a:t>
            </a:r>
          </a:p>
          <a:p>
            <a:r>
              <a:rPr sz="1400" b="0">
                <a:solidFill>
                  <a:srgbClr val="1A1F36"/>
                </a:solidFill>
                <a:latin typeface="Arial"/>
              </a:rPr>
              <a:t>Only Turkey ($400k real estate) and Georgia (discretionary €300k) run functioning investment-citizenship for Russians today.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1737360"/>
            <a:ext cx="3515258" cy="4389120"/>
          </a:xfrm>
          <a:prstGeom prst="roundRect">
            <a:avLst/>
          </a:prstGeom>
          <a:solidFill>
            <a:srgbClr val="F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47946" y="1737360"/>
            <a:ext cx="3295802" cy="7315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1098" y="1993392"/>
            <a:ext cx="3149498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4F46E5"/>
                </a:solidFill>
                <a:latin typeface="Georgia"/>
              </a:rPr>
              <a:t>IN PROGRESS</a:t>
            </a:r>
          </a:p>
          <a:p>
            <a:r>
              <a:rPr sz="1800" b="1">
                <a:solidFill>
                  <a:srgbClr val="1A1F36"/>
                </a:solidFill>
                <a:latin typeface="Georgia"/>
              </a:rPr>
              <a:t>Residence is broadly open</a:t>
            </a:r>
          </a:p>
          <a:p>
            <a:r>
              <a:rPr sz="1400" b="0">
                <a:solidFill>
                  <a:srgbClr val="1A1F36"/>
                </a:solidFill>
                <a:latin typeface="Arial"/>
              </a:rPr>
              <a:t>Digital-nomad, rentista and business routes stay open across LatAm, the Balkans, Asia and the Gulf — income thresholds, not blockers.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737360"/>
            <a:ext cx="3515258" cy="4389120"/>
          </a:xfrm>
          <a:prstGeom prst="roundRect">
            <a:avLst/>
          </a:prstGeom>
          <a:solidFill>
            <a:srgbClr val="F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37524" y="1737360"/>
            <a:ext cx="3295802" cy="73152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0676" y="1993392"/>
            <a:ext cx="3149498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B42318"/>
                </a:solidFill>
                <a:latin typeface="Georgia"/>
              </a:rPr>
              <a:t>BLOCKED</a:t>
            </a:r>
          </a:p>
          <a:p>
            <a:r>
              <a:rPr sz="1800" b="1">
                <a:solidFill>
                  <a:srgbClr val="1A1F36"/>
                </a:solidFill>
                <a:latin typeface="Georgia"/>
              </a:rPr>
              <a:t>Closed for RF</a:t>
            </a:r>
          </a:p>
          <a:p>
            <a:r>
              <a:rPr sz="1400" b="0">
                <a:solidFill>
                  <a:srgbClr val="1A1F36"/>
                </a:solidFill>
                <a:latin typeface="Arial"/>
              </a:rPr>
              <a:t>6 destinations are effectively shut for Russians: Czechia, Italy, Greece, Panama, Malta, Grenada (Caribbean CBI).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A94A6"/>
                </a:solidFill>
                <a:latin typeface="Arial"/>
              </a:rPr>
              <a:t>Source: sourced 2026 legalization review — see the interactive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A1F36"/>
                </a:solidFill>
                <a:latin typeface="Georgia"/>
              </a:rPr>
              <a:t>The payoff: 11 countries that are both open to enter and safe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82296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737360"/>
          <a:ext cx="11094415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A94A6"/>
                </a:solidFill>
                <a:latin typeface="Arial"/>
              </a:rPr>
              <a:t>Source: “easy + safe” = an open residence route for RF × high safety/stability score (top 8 of 11 shown)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000" b="1">
                <a:solidFill>
                  <a:srgbClr val="1A1F36"/>
                </a:solidFill>
                <a:latin typeface="Georgia"/>
              </a:rPr>
              <a:t>Fit, access and safety point at different countries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82296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410047" cy="4389120"/>
          </a:xfrm>
          <a:prstGeom prst="roundRect">
            <a:avLst/>
          </a:prstGeom>
          <a:solidFill>
            <a:srgbClr val="F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5190591" cy="7315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93392"/>
            <a:ext cx="5044287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1A1F36"/>
                </a:solidFill>
                <a:latin typeface="Georgia"/>
              </a:rPr>
              <a:t>The trade-off</a:t>
            </a:r>
          </a:p>
          <a:p>
            <a:r>
              <a:rPr sz="1400" b="0">
                <a:solidFill>
                  <a:srgbClr val="1A1F36"/>
                </a:solidFill>
                <a:latin typeface="Arial"/>
              </a:rPr>
              <a:t>Georgia tops the score but scores worst on geopolitics. Portugal/Spain are safe and pleasant but naturalization just moved to 10 years. UAE is safe with an easy visa — but no path to a passport.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737360"/>
            <a:ext cx="5410047" cy="4389120"/>
          </a:xfrm>
          <a:prstGeom prst="roundRect">
            <a:avLst/>
          </a:prstGeom>
          <a:solidFill>
            <a:srgbClr val="F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42735" y="1737360"/>
            <a:ext cx="5190591" cy="7315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5887" y="1993392"/>
            <a:ext cx="5044287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1A1F36"/>
                </a:solidFill>
                <a:latin typeface="Georgia"/>
              </a:rPr>
              <a:t>Why separate them</a:t>
            </a:r>
          </a:p>
          <a:p>
            <a:r>
              <a:rPr sz="1400" b="0">
                <a:solidFill>
                  <a:srgbClr val="1A1F36"/>
                </a:solidFill>
                <a:latin typeface="Arial"/>
              </a:rPr>
              <a:t>A single ranking hides this. Scoring fit, legalization access and safety as three lenses is what turns a wish-list into a decision.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000" b="1">
                <a:solidFill>
                  <a:srgbClr val="1A1F36"/>
                </a:solidFill>
                <a:latin typeface="Georgia"/>
              </a:rPr>
              <a:t>The shortlist splits into three plays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82296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410047" cy="4389120"/>
          </a:xfrm>
          <a:prstGeom prst="roundRect">
            <a:avLst/>
          </a:prstGeom>
          <a:solidFill>
            <a:srgbClr val="F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5190591" cy="7315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93392"/>
            <a:ext cx="5044287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4F46E5"/>
                </a:solidFill>
                <a:latin typeface="Georgia"/>
              </a:rPr>
              <a:t>AHEAD</a:t>
            </a:r>
          </a:p>
          <a:p>
            <a:r>
              <a:rPr sz="1800" b="1">
                <a:solidFill>
                  <a:srgbClr val="1A1F36"/>
                </a:solidFill>
                <a:latin typeface="Georgia"/>
              </a:rPr>
              <a:t>Base now — Georgia / UAE</a:t>
            </a:r>
          </a:p>
          <a:p>
            <a:r>
              <a:rPr sz="1400" b="0">
                <a:solidFill>
                  <a:srgbClr val="1A1F36"/>
                </a:solidFill>
                <a:latin typeface="Arial"/>
              </a:rPr>
              <a:t>Cheapest, fastest residence; Georgia for cost, UAE for a safe tax base while you scout. Neither is the end state.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737360"/>
            <a:ext cx="5410047" cy="4389120"/>
          </a:xfrm>
          <a:prstGeom prst="roundRect">
            <a:avLst/>
          </a:prstGeom>
          <a:solidFill>
            <a:srgbClr val="F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42735" y="1737360"/>
            <a:ext cx="5190591" cy="73152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5887" y="1993392"/>
            <a:ext cx="5044287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312E81"/>
                </a:solidFill>
                <a:latin typeface="Georgia"/>
              </a:rPr>
              <a:t>ON TRACK</a:t>
            </a:r>
          </a:p>
          <a:p>
            <a:r>
              <a:rPr sz="1800" b="1">
                <a:solidFill>
                  <a:srgbClr val="1A1F36"/>
                </a:solidFill>
                <a:latin typeface="Georgia"/>
              </a:rPr>
              <a:t>EU path — Portugal / Spain</a:t>
            </a:r>
          </a:p>
          <a:p>
            <a:r>
              <a:rPr sz="1400" b="0">
                <a:solidFill>
                  <a:srgbClr val="1A1F36"/>
                </a:solidFill>
                <a:latin typeface="Arial"/>
              </a:rPr>
              <a:t>Safe, high quality of life, a real (if now 10-year) route to an EU passport. The long game.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Georgia"/>
              </a:rPr>
              <a:t>The best country to score is rarely the best to enter — or the safest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5577840"/>
            <a:ext cx="1097280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023360"/>
            <a:ext cx="1109441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D6DCE8"/>
                </a:solidFill>
                <a:latin typeface="Arial"/>
              </a:rPr>
              <a:t>The model's real output isn't a winner; it's three ranked lenses — fit, access, safety — you can weigh for your own situation.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000" b="1">
                <a:solidFill>
                  <a:srgbClr val="FFFFFF"/>
                </a:solidFill>
                <a:latin typeface="Georgia"/>
              </a:rPr>
              <a:t>Interactive report + framework on GitHub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8640" y="5577840"/>
            <a:ext cx="1097280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A1A1A"/>
      </a:dk1>
      <a:lt1>
        <a:srgbClr val="FFFFFF"/>
      </a:lt1>
      <a:dk2>
        <a:srgbClr val="1E1B4B"/>
      </a:dk2>
      <a:lt2>
        <a:srgbClr val="F5F5FB"/>
      </a:lt2>
      <a:accent1>
        <a:srgbClr val="312E81"/>
      </a:accent1>
      <a:accent2>
        <a:srgbClr val="4F46E5"/>
      </a:accent2>
      <a:accent3>
        <a:srgbClr val="8A94A6"/>
      </a:accent3>
      <a:accent4>
        <a:srgbClr val="F59E0B"/>
      </a:accent4>
      <a:accent5>
        <a:srgbClr val="067647"/>
      </a:accent5>
      <a:accent6>
        <a:srgbClr val="B42318"/>
      </a:accent6>
      <a:hlink>
        <a:srgbClr val="4F46E5"/>
      </a:hlink>
      <a:folHlink>
        <a:srgbClr val="6366F1"/>
      </a:folHlink>
    </a:clrScheme>
    <a:fontScheme name="Office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